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8" r:id="rId3"/>
    <p:sldId id="264" r:id="rId4"/>
    <p:sldId id="265" r:id="rId5"/>
    <p:sldId id="266" r:id="rId6"/>
    <p:sldId id="267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E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30352"/>
            <a:ext cx="41148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000" b="1">
                <a:solidFill>
                  <a:srgbClr val="5DDBCA"/>
                </a:solidFill>
                <a:latin typeface="微软雅黑" panose="020B0503020204020204" charset="-122"/>
              </a:defRPr>
            </a:pPr>
            <a:r>
              <a:t>UNDERLYING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87552"/>
            <a:ext cx="9601200" cy="6858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Currently Observable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841248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600" b="0">
                <a:solidFill>
                  <a:srgbClr val="BFCDDA"/>
                </a:solidFill>
                <a:latin typeface="微软雅黑" panose="020B0503020204020204" charset="-122"/>
              </a:defRPr>
            </a:pPr>
            <a:r>
              <a:t>Direct findings from the frozen commit-message corpus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788920"/>
            <a:ext cx="73152" cy="1417320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990088"/>
            <a:ext cx="301752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28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593591"/>
            <a:ext cx="301752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200" b="0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Exact Qwen Code trailer matches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7889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788920"/>
            <a:ext cx="73152" cy="1417320"/>
          </a:xfrm>
          <a:prstGeom prst="rect">
            <a:avLst/>
          </a:prstGeom>
          <a:solidFill>
            <a:srgbClr val="5AA9E6"/>
          </a:solidFill>
          <a:ln>
            <a:solidFill>
              <a:srgbClr val="5AA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2990088"/>
            <a:ext cx="301752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28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2,724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593591"/>
            <a:ext cx="301752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200" b="0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Qwen name/context matches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7889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2788920"/>
            <a:ext cx="73152" cy="141732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2990088"/>
            <a:ext cx="301752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28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2,415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3593591"/>
            <a:ext cx="301752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200" b="0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DeepSeek name/context matches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864608"/>
            <a:ext cx="1060704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Only directly observable public text is shown. Keyword matches are not model-use counts.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172200"/>
            <a:ext cx="68580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900" b="0">
                <a:solidFill>
                  <a:srgbClr val="97AABC"/>
                </a:solidFill>
                <a:latin typeface="微软雅黑" panose="020B0503020204020204" charset="-122"/>
              </a:defRPr>
            </a:pPr>
            <a:r>
              <a:t>Frozen merged frame · unique repository-SHA · 2026-09-08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3035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900" b="1">
                <a:solidFill>
                  <a:srgbClr val="00897B"/>
                </a:solidFill>
                <a:latin typeface="微软雅黑" panose="020B0503020204020204" charset="-122"/>
              </a:defRPr>
            </a:pPr>
            <a:r>
              <a:t>FULL-MESSAGE KEYWORD CENSUS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27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Model keywords are not rare in commit messages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658368" cy="50292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64208"/>
            <a:ext cx="19202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1300" b="1">
                <a:solidFill>
                  <a:srgbClr val="1D2B3A"/>
                </a:solidFill>
                <a:latin typeface="微软雅黑" panose="020B0503020204020204" charset="-122"/>
              </a:defRPr>
            </a:pPr>
            <a:r>
              <a:t>Qwen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91640"/>
            <a:ext cx="6995160" cy="274320"/>
          </a:xfrm>
          <a:prstGeom prst="rect">
            <a:avLst/>
          </a:prstGeom>
          <a:solidFill>
            <a:srgbClr val="E8EDF1"/>
          </a:solidFill>
          <a:ln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0" y="1691640"/>
            <a:ext cx="6995160" cy="274320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8128" y="1655064"/>
            <a:ext cx="960120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4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2,724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19202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1300" b="1">
                <a:solidFill>
                  <a:srgbClr val="1D2B3A"/>
                </a:solidFill>
                <a:latin typeface="微软雅黑" panose="020B0503020204020204" charset="-122"/>
              </a:defRPr>
            </a:pPr>
            <a:r>
              <a:t>DeepSeek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496312"/>
            <a:ext cx="6995160" cy="274320"/>
          </a:xfrm>
          <a:prstGeom prst="rect">
            <a:avLst/>
          </a:prstGeom>
          <a:solidFill>
            <a:srgbClr val="E8EDF1"/>
          </a:solidFill>
          <a:ln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2496312"/>
            <a:ext cx="6201656" cy="274320"/>
          </a:xfrm>
          <a:prstGeom prst="rect">
            <a:avLst/>
          </a:prstGeom>
          <a:solidFill>
            <a:srgbClr val="2D72D2"/>
          </a:solidFill>
          <a:ln>
            <a:solidFill>
              <a:srgbClr val="2D7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8128" y="2459736"/>
            <a:ext cx="960120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4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2,415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73552"/>
            <a:ext cx="19202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1300" b="1">
                <a:solidFill>
                  <a:srgbClr val="1D2B3A"/>
                </a:solidFill>
                <a:latin typeface="微软雅黑" panose="020B0503020204020204" charset="-122"/>
              </a:defRPr>
            </a:pPr>
            <a:r>
              <a:t>Kimi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300984"/>
            <a:ext cx="6995160" cy="274320"/>
          </a:xfrm>
          <a:prstGeom prst="rect">
            <a:avLst/>
          </a:prstGeom>
          <a:solidFill>
            <a:srgbClr val="E8EDF1"/>
          </a:solidFill>
          <a:ln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0" y="3300984"/>
            <a:ext cx="1795013" cy="274320"/>
          </a:xfrm>
          <a:prstGeom prst="rect">
            <a:avLst/>
          </a:prstGeom>
          <a:solidFill>
            <a:srgbClr val="5AA9E6"/>
          </a:solidFill>
          <a:ln>
            <a:solidFill>
              <a:srgbClr val="5AA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68128" y="3264408"/>
            <a:ext cx="960120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4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699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78224"/>
            <a:ext cx="19202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1300" b="1">
                <a:solidFill>
                  <a:srgbClr val="1D2B3A"/>
                </a:solidFill>
                <a:latin typeface="微软雅黑" panose="020B0503020204020204" charset="-122"/>
              </a:defRPr>
            </a:pPr>
            <a:r>
              <a:t>GLM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4105656"/>
            <a:ext cx="6995160" cy="274320"/>
          </a:xfrm>
          <a:prstGeom prst="rect">
            <a:avLst/>
          </a:prstGeom>
          <a:solidFill>
            <a:srgbClr val="E8EDF1"/>
          </a:solidFill>
          <a:ln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26080" y="4105656"/>
            <a:ext cx="1135044" cy="274320"/>
          </a:xfrm>
          <a:prstGeom prst="rect">
            <a:avLst/>
          </a:prstGeom>
          <a:solidFill>
            <a:srgbClr val="E8B42D"/>
          </a:solidFill>
          <a:ln>
            <a:solidFill>
              <a:srgbClr val="E8B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68128" y="4069080"/>
            <a:ext cx="960120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4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442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82896"/>
            <a:ext cx="19202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1300" b="1">
                <a:solidFill>
                  <a:srgbClr val="1D2B3A"/>
                </a:solidFill>
                <a:latin typeface="微软雅黑" panose="020B0503020204020204" charset="-122"/>
              </a:defRPr>
            </a:pPr>
            <a:r>
              <a:t>Doubao / Seed / TRAE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910328"/>
            <a:ext cx="6995160" cy="274320"/>
          </a:xfrm>
          <a:prstGeom prst="rect">
            <a:avLst/>
          </a:prstGeom>
          <a:solidFill>
            <a:srgbClr val="E8EDF1"/>
          </a:solidFill>
          <a:ln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0" y="4910328"/>
            <a:ext cx="688216" cy="27432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68128" y="4873752"/>
            <a:ext cx="960120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4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268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5641848"/>
            <a:ext cx="2971800" cy="512064"/>
          </a:xfrm>
          <a:prstGeom prst="roundRect">
            <a:avLst/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5797296"/>
            <a:ext cx="2615184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900" b="1">
                <a:solidFill>
                  <a:srgbClr val="2D72D2"/>
                </a:solidFill>
                <a:latin typeface="微软雅黑" panose="020B0503020204020204" charset="-122"/>
              </a:defRPr>
            </a:pPr>
            <a:r>
              <a:t>Unit: unique repository-SHA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623560"/>
            <a:ext cx="690372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300" b="0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These counts show names or related context, not commits generated by each model.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92240"/>
            <a:ext cx="996696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800" b="0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Source: DOMESTIC_MODEL_KEYWORD_COUNTS_COMPLETE.csv · merged_expanded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800" b="0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3035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900" b="1">
                <a:solidFill>
                  <a:srgbClr val="00897B"/>
                </a:solidFill>
                <a:latin typeface="微软雅黑" panose="020B0503020204020204" charset="-122"/>
              </a:defRPr>
            </a:pPr>
            <a:r>
              <a:t>EXACT OBSERVABLE SIGNATURE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27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Qwen: 24 exact trailer matches, not all keyword matches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658368" cy="50292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27632"/>
            <a:ext cx="6720840" cy="2148840"/>
          </a:xfrm>
          <a:prstGeom prst="roundRect">
            <a:avLst/>
          </a:prstGeom>
          <a:solidFill>
            <a:srgbClr val="101E31"/>
          </a:solidFill>
          <a:ln>
            <a:solidFill>
              <a:srgbClr val="10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52120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200" b="1">
                <a:solidFill>
                  <a:srgbClr val="97DBD2"/>
                </a:solidFill>
                <a:latin typeface="微软雅黑" panose="020B0503020204020204" charset="-122"/>
              </a:defRPr>
            </a:pPr>
            <a:r>
              <a:t>Fixed format in the commit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95728"/>
            <a:ext cx="5943600" cy="8229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scadia Mono" panose="020B0609020000020004"/>
              </a:defRPr>
            </a:pPr>
            <a:r>
              <a:t>Co-authored-by: Qwen-Coder</a:t>
            </a:r>
            <a:br/>
            <a:r>
              <a:t>&lt;qwen-coder@alibabacloud.com&gt;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627632"/>
            <a:ext cx="3429000" cy="2148840"/>
          </a:xfrm>
          <a:prstGeom prst="roundRect">
            <a:avLst/>
          </a:prstGeom>
          <a:solidFill>
            <a:srgbClr val="E0F2EF"/>
          </a:solidFill>
          <a:ln>
            <a:solidFill>
              <a:srgbClr val="E0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1583" y="1847088"/>
            <a:ext cx="2834640" cy="6583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3700" b="1">
                <a:solidFill>
                  <a:srgbClr val="00897B"/>
                </a:solidFill>
                <a:latin typeface="微软雅黑" panose="020B0503020204020204" charset="-122"/>
              </a:defRPr>
            </a:pPr>
            <a: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514600"/>
            <a:ext cx="278892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15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exact matches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944368"/>
            <a:ext cx="251460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1100" b="0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matched  1</a:t>
            </a:r>
            <a:br/>
            <a:r>
              <a:t>supplementary  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224528"/>
            <a:ext cx="3291840" cy="1078992"/>
          </a:xfrm>
          <a:prstGeom prst="roundRect">
            <a:avLst/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4224528"/>
            <a:ext cx="73152" cy="1078992"/>
          </a:xfrm>
          <a:prstGeom prst="rect">
            <a:avLst/>
          </a:prstGeom>
          <a:solidFill>
            <a:srgbClr val="2D72D2"/>
          </a:solidFill>
          <a:ln>
            <a:solidFill>
              <a:srgbClr val="2D7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425696"/>
            <a:ext cx="288036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28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2,724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29200"/>
            <a:ext cx="288036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200" b="0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All Qwen name/context matches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4462272"/>
            <a:ext cx="50292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2600" b="1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9472" y="4224528"/>
            <a:ext cx="2926080" cy="1078992"/>
          </a:xfrm>
          <a:prstGeom prst="roundRect">
            <a:avLst/>
          </a:prstGeom>
          <a:solidFill>
            <a:srgbClr val="E0F2EF"/>
          </a:solidFill>
          <a:ln>
            <a:solidFill>
              <a:srgbClr val="E0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9472" y="4224528"/>
            <a:ext cx="73152" cy="1078992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4425696"/>
            <a:ext cx="251460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28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5029200"/>
            <a:ext cx="25146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200" b="0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Exact trailer matches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4251960"/>
            <a:ext cx="2971800" cy="9692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D2B3A"/>
                </a:solidFill>
                <a:latin typeface="微软雅黑" panose="020B0503020204020204" charset="-122"/>
              </a:defRPr>
            </a:pPr>
            <a:r>
              <a:t>The official Qwen Code source implements insertion of this fixed trailer.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92240"/>
            <a:ext cx="996696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800" b="0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Source: QWEN_H1_INCREMENTAL_RUN_MANIFEST.json; official snapshot 055e831556ed…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800" b="0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3035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900" b="1">
                <a:solidFill>
                  <a:srgbClr val="00897B"/>
                </a:solidFill>
                <a:latin typeface="微软雅黑" panose="020B0503020204020204" charset="-122"/>
              </a:defRPr>
            </a:pPr>
            <a:r>
              <a:t>240-CASE DISCOVERY ANNOTATION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27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Most keyword hits concern APIs, configuration, or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658368" cy="50292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54480"/>
            <a:ext cx="3035808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1050" b="1">
                <a:solidFill>
                  <a:srgbClr val="1D2B3A"/>
                </a:solidFill>
                <a:latin typeface="微软雅黑" panose="020B0503020204020204" charset="-122"/>
              </a:defRPr>
            </a:pPr>
            <a:r>
              <a:t>API / model config / dependency /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986784" y="1572768"/>
            <a:ext cx="5623560" cy="228600"/>
          </a:xfrm>
          <a:prstGeom prst="rect">
            <a:avLst/>
          </a:prstGeom>
          <a:solidFill>
            <a:srgbClr val="EAEEF1"/>
          </a:solidFill>
          <a:ln>
            <a:solidFill>
              <a:srgbClr val="EAE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86784" y="1572768"/>
            <a:ext cx="5623560" cy="228600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1536192"/>
            <a:ext cx="123444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1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139  (57.9%)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67128"/>
            <a:ext cx="3035808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1050" b="1">
                <a:solidFill>
                  <a:srgbClr val="1D2B3A"/>
                </a:solidFill>
                <a:latin typeface="微软雅黑" panose="020B0503020204020204" charset="-122"/>
              </a:defRPr>
            </a:pPr>
            <a:r>
              <a:t>Generated-by or co-author wording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86784" y="2185416"/>
            <a:ext cx="5623560" cy="228600"/>
          </a:xfrm>
          <a:prstGeom prst="rect">
            <a:avLst/>
          </a:prstGeom>
          <a:solidFill>
            <a:srgbClr val="EAEEF1"/>
          </a:solidFill>
          <a:ln>
            <a:solidFill>
              <a:srgbClr val="EAE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86784" y="2185416"/>
            <a:ext cx="1982406" cy="228600"/>
          </a:xfrm>
          <a:prstGeom prst="rect">
            <a:avLst/>
          </a:prstGeom>
          <a:solidFill>
            <a:srgbClr val="2D72D2"/>
          </a:solidFill>
          <a:ln>
            <a:solidFill>
              <a:srgbClr val="2D7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29800" y="2148840"/>
            <a:ext cx="123444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1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49  (20.4%)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79776"/>
            <a:ext cx="3035808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1050" b="0">
                <a:solidFill>
                  <a:srgbClr val="1D2B3A"/>
                </a:solidFill>
                <a:latin typeface="微软雅黑" panose="020B0503020204020204" charset="-122"/>
              </a:defRPr>
            </a:pPr>
            <a:r>
              <a:t>Docs / benchmark / test / release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86784" y="2798064"/>
            <a:ext cx="5623560" cy="228600"/>
          </a:xfrm>
          <a:prstGeom prst="rect">
            <a:avLst/>
          </a:prstGeom>
          <a:solidFill>
            <a:srgbClr val="EAEEF1"/>
          </a:solidFill>
          <a:ln>
            <a:solidFill>
              <a:srgbClr val="EAE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86784" y="2798064"/>
            <a:ext cx="809145" cy="228600"/>
          </a:xfrm>
          <a:prstGeom prst="rect">
            <a:avLst/>
          </a:prstGeom>
          <a:solidFill>
            <a:srgbClr val="5AA9E6"/>
          </a:solidFill>
          <a:ln>
            <a:solidFill>
              <a:srgbClr val="5AA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2761488"/>
            <a:ext cx="123444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1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20  (8.3%)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392424"/>
            <a:ext cx="3035808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1050" b="0">
                <a:solidFill>
                  <a:srgbClr val="1D2B3A"/>
                </a:solidFill>
                <a:latin typeface="微软雅黑" panose="020B0503020204020204" charset="-122"/>
              </a:defRPr>
            </a:pPr>
            <a:r>
              <a:t>Ordinary discussion or unrelated term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86784" y="3410712"/>
            <a:ext cx="5623560" cy="228600"/>
          </a:xfrm>
          <a:prstGeom prst="rect">
            <a:avLst/>
          </a:prstGeom>
          <a:solidFill>
            <a:srgbClr val="EAEEF1"/>
          </a:solidFill>
          <a:ln>
            <a:solidFill>
              <a:srgbClr val="EAE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86784" y="3410712"/>
            <a:ext cx="566401" cy="228600"/>
          </a:xfrm>
          <a:prstGeom prst="rect">
            <a:avLst/>
          </a:prstGeom>
          <a:solidFill>
            <a:srgbClr val="E8B42D"/>
          </a:solidFill>
          <a:ln>
            <a:solidFill>
              <a:srgbClr val="E8B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3374136"/>
            <a:ext cx="123444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1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14  (5.8%)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005072"/>
            <a:ext cx="3035808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1050" b="0">
                <a:solidFill>
                  <a:srgbClr val="1D2B3A"/>
                </a:solidFill>
                <a:latin typeface="微软雅黑" panose="020B0503020204020204" charset="-122"/>
              </a:defRPr>
            </a:pPr>
            <a:r>
              <a:t>Insufficient context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86784" y="4023359"/>
            <a:ext cx="5623560" cy="228600"/>
          </a:xfrm>
          <a:prstGeom prst="rect">
            <a:avLst/>
          </a:prstGeom>
          <a:solidFill>
            <a:srgbClr val="EAEEF1"/>
          </a:solidFill>
          <a:ln>
            <a:solidFill>
              <a:srgbClr val="EAE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86784" y="4023359"/>
            <a:ext cx="323658" cy="228600"/>
          </a:xfrm>
          <a:prstGeom prst="rect">
            <a:avLst/>
          </a:prstGeom>
          <a:solidFill>
            <a:srgbClr val="A6B1BC"/>
          </a:solidFill>
          <a:ln>
            <a:solidFill>
              <a:srgbClr val="A6B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3986784"/>
            <a:ext cx="123444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1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8  (3.3%)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617720"/>
            <a:ext cx="3035808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1050" b="0">
                <a:solidFill>
                  <a:srgbClr val="1D2B3A"/>
                </a:solidFill>
                <a:latin typeface="微软雅黑" panose="020B0503020204020204" charset="-122"/>
              </a:defRPr>
            </a:pPr>
            <a:r>
              <a:t>Ambiguous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86784" y="4636007"/>
            <a:ext cx="5623560" cy="228600"/>
          </a:xfrm>
          <a:prstGeom prst="rect">
            <a:avLst/>
          </a:prstGeom>
          <a:solidFill>
            <a:srgbClr val="EAEEF1"/>
          </a:solidFill>
          <a:ln>
            <a:solidFill>
              <a:srgbClr val="EAE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86784" y="4636007"/>
            <a:ext cx="202286" cy="2286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4599432"/>
            <a:ext cx="123444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1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5  (2.1%)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230368"/>
            <a:ext cx="3035808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1050" b="0">
                <a:solidFill>
                  <a:srgbClr val="1D2B3A"/>
                </a:solidFill>
                <a:latin typeface="微软雅黑" panose="020B0503020204020204" charset="-122"/>
              </a:defRPr>
            </a:pPr>
            <a:r>
              <a:t>Structured harness-model self-report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86784" y="5248656"/>
            <a:ext cx="5623560" cy="228600"/>
          </a:xfrm>
          <a:prstGeom prst="rect">
            <a:avLst/>
          </a:prstGeom>
          <a:solidFill>
            <a:srgbClr val="EAEEF1"/>
          </a:solidFill>
          <a:ln>
            <a:solidFill>
              <a:srgbClr val="EAE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86784" y="5248656"/>
            <a:ext cx="202286" cy="228600"/>
          </a:xfrm>
          <a:prstGeom prst="rect">
            <a:avLst/>
          </a:prstGeom>
          <a:solidFill>
            <a:srgbClr val="7E57C2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5212080"/>
            <a:ext cx="123444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1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5  (2.1%)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" y="5907024"/>
            <a:ext cx="10378440" cy="384048"/>
          </a:xfrm>
          <a:prstGeom prst="roundRect">
            <a:avLst/>
          </a:prstGeom>
          <a:solidFill>
            <a:srgbClr val="F3F7F9"/>
          </a:solidFill>
          <a:ln>
            <a:solidFill>
              <a:srgbClr val="F3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6007608"/>
            <a:ext cx="1001268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Balanced discovery sample: 48 records per family, 240 total. Percentages describe this sample only.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92240"/>
            <a:ext cx="996696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800" b="0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Source: DOMESTIC_MODEL_DISCOVERY_ANNOTATION_SUMMARY.csv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800" b="0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3035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900" b="1">
                <a:solidFill>
                  <a:srgbClr val="00897B"/>
                </a:solidFill>
                <a:latin typeface="微软雅黑" panose="020B0503020204020204" charset="-122"/>
              </a:defRPr>
            </a:pPr>
            <a:r>
              <a:t>BALANCED SAMPLE · 48 PER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27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Why each model-family keyword was matched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658368" cy="50292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627632"/>
            <a:ext cx="205740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1100" b="1">
                <a:solidFill>
                  <a:srgbClr val="1D2B3A"/>
                </a:solidFill>
                <a:latin typeface="微软雅黑" panose="020B0503020204020204" charset="-122"/>
              </a:defRPr>
            </a:pPr>
            <a:r>
              <a:t>DeepSeek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1645920"/>
            <a:ext cx="4663440" cy="292608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677924"/>
            <a:ext cx="46634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645920"/>
            <a:ext cx="1020127" cy="292608"/>
          </a:xfrm>
          <a:prstGeom prst="rect">
            <a:avLst/>
          </a:prstGeom>
          <a:solidFill>
            <a:srgbClr val="2D72D2"/>
          </a:solidFill>
          <a:ln>
            <a:solidFill>
              <a:srgbClr val="2D7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677924"/>
            <a:ext cx="1020127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55367" y="1645920"/>
            <a:ext cx="874395" cy="292608"/>
          </a:xfrm>
          <a:prstGeom prst="rect">
            <a:avLst/>
          </a:prstGeom>
          <a:solidFill>
            <a:srgbClr val="5AA9E6"/>
          </a:solidFill>
          <a:ln>
            <a:solidFill>
              <a:srgbClr val="5AA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5367" y="1677924"/>
            <a:ext cx="874395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9762" y="1645920"/>
            <a:ext cx="437197" cy="292608"/>
          </a:xfrm>
          <a:prstGeom prst="rect">
            <a:avLst/>
          </a:prstGeom>
          <a:solidFill>
            <a:srgbClr val="A6B1BC"/>
          </a:solidFill>
          <a:ln>
            <a:solidFill>
              <a:srgbClr val="A6B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9762" y="1677924"/>
            <a:ext cx="437197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8128" y="1636776"/>
            <a:ext cx="5029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000" b="1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386584"/>
            <a:ext cx="205740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1100" b="1">
                <a:solidFill>
                  <a:srgbClr val="1D2B3A"/>
                </a:solidFill>
                <a:latin typeface="微软雅黑" panose="020B0503020204020204" charset="-122"/>
              </a:defRPr>
            </a:pPr>
            <a:r>
              <a:t>Doubao / Seed / TRAE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404872"/>
            <a:ext cx="4663440" cy="292608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436876"/>
            <a:ext cx="46634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2404872"/>
            <a:ext cx="145732" cy="292608"/>
          </a:xfrm>
          <a:prstGeom prst="rect">
            <a:avLst/>
          </a:prstGeom>
          <a:solidFill>
            <a:srgbClr val="2D72D2"/>
          </a:solidFill>
          <a:ln>
            <a:solidFill>
              <a:srgbClr val="2D7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80972" y="2404872"/>
            <a:ext cx="437197" cy="292608"/>
          </a:xfrm>
          <a:prstGeom prst="rect">
            <a:avLst/>
          </a:prstGeom>
          <a:solidFill>
            <a:srgbClr val="5AA9E6"/>
          </a:solidFill>
          <a:ln>
            <a:solidFill>
              <a:srgbClr val="5AA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80972" y="2436876"/>
            <a:ext cx="437197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18170" y="2404872"/>
            <a:ext cx="1748790" cy="292608"/>
          </a:xfrm>
          <a:prstGeom prst="rect">
            <a:avLst/>
          </a:prstGeom>
          <a:solidFill>
            <a:srgbClr val="A6B1BC"/>
          </a:solidFill>
          <a:ln>
            <a:solidFill>
              <a:srgbClr val="A6B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8170" y="2436876"/>
            <a:ext cx="174879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8128" y="2395727"/>
            <a:ext cx="5029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000" b="1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145536"/>
            <a:ext cx="205740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1100" b="1">
                <a:solidFill>
                  <a:srgbClr val="1D2B3A"/>
                </a:solidFill>
                <a:latin typeface="微软雅黑" panose="020B0503020204020204" charset="-122"/>
              </a:defRPr>
            </a:pPr>
            <a:r>
              <a:t>GLM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3163824"/>
            <a:ext cx="3351847" cy="292608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3195828"/>
            <a:ext cx="3351847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3647" y="3163824"/>
            <a:ext cx="2623185" cy="292608"/>
          </a:xfrm>
          <a:prstGeom prst="rect">
            <a:avLst/>
          </a:prstGeom>
          <a:solidFill>
            <a:srgbClr val="2D72D2"/>
          </a:solidFill>
          <a:ln>
            <a:solidFill>
              <a:srgbClr val="2D7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3647" y="3195828"/>
            <a:ext cx="2623185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6832" y="3163824"/>
            <a:ext cx="582930" cy="292608"/>
          </a:xfrm>
          <a:prstGeom prst="rect">
            <a:avLst/>
          </a:prstGeom>
          <a:solidFill>
            <a:srgbClr val="5AA9E6"/>
          </a:solidFill>
          <a:ln>
            <a:solidFill>
              <a:srgbClr val="5AA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6832" y="3195828"/>
            <a:ext cx="58293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29762" y="3163824"/>
            <a:ext cx="437197" cy="292608"/>
          </a:xfrm>
          <a:prstGeom prst="rect">
            <a:avLst/>
          </a:prstGeom>
          <a:solidFill>
            <a:srgbClr val="A6B1BC"/>
          </a:solidFill>
          <a:ln>
            <a:solidFill>
              <a:srgbClr val="A6B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29762" y="3195828"/>
            <a:ext cx="437197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68128" y="3154679"/>
            <a:ext cx="5029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000" b="1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904487"/>
            <a:ext cx="205740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1100" b="1">
                <a:solidFill>
                  <a:srgbClr val="1D2B3A"/>
                </a:solidFill>
                <a:latin typeface="微软雅黑" panose="020B0503020204020204" charset="-122"/>
              </a:defRPr>
            </a:pPr>
            <a:r>
              <a:t>Kimi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71800" y="3922775"/>
            <a:ext cx="4080510" cy="292608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71800" y="3954779"/>
            <a:ext cx="408051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52310" y="3922775"/>
            <a:ext cx="1457325" cy="292608"/>
          </a:xfrm>
          <a:prstGeom prst="rect">
            <a:avLst/>
          </a:prstGeom>
          <a:solidFill>
            <a:srgbClr val="2D72D2"/>
          </a:solidFill>
          <a:ln>
            <a:solidFill>
              <a:srgbClr val="2D7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52310" y="3954779"/>
            <a:ext cx="1457325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9635" y="3922775"/>
            <a:ext cx="291465" cy="292608"/>
          </a:xfrm>
          <a:prstGeom prst="rect">
            <a:avLst/>
          </a:prstGeom>
          <a:solidFill>
            <a:srgbClr val="5AA9E6"/>
          </a:solidFill>
          <a:ln>
            <a:solidFill>
              <a:srgbClr val="5AA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01100" y="3922775"/>
            <a:ext cx="1165860" cy="292608"/>
          </a:xfrm>
          <a:prstGeom prst="rect">
            <a:avLst/>
          </a:prstGeom>
          <a:solidFill>
            <a:srgbClr val="A6B1BC"/>
          </a:solidFill>
          <a:ln>
            <a:solidFill>
              <a:srgbClr val="A6B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01100" y="3954779"/>
            <a:ext cx="116586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68128" y="3913631"/>
            <a:ext cx="5029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000" b="1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4663440"/>
            <a:ext cx="205740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1100" b="1">
                <a:solidFill>
                  <a:srgbClr val="1D2B3A"/>
                </a:solidFill>
                <a:latin typeface="微软雅黑" panose="020B0503020204020204" charset="-122"/>
              </a:defRPr>
            </a:pPr>
            <a:r>
              <a:t>Qwen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71800" y="4681727"/>
            <a:ext cx="3497580" cy="292608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1800" y="4713731"/>
            <a:ext cx="34975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69380" y="4681727"/>
            <a:ext cx="2623185" cy="292608"/>
          </a:xfrm>
          <a:prstGeom prst="rect">
            <a:avLst/>
          </a:prstGeom>
          <a:solidFill>
            <a:srgbClr val="2D72D2"/>
          </a:solidFill>
          <a:ln>
            <a:solidFill>
              <a:srgbClr val="2D7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69380" y="4713731"/>
            <a:ext cx="2623185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2565" y="4681727"/>
            <a:ext cx="728662" cy="292608"/>
          </a:xfrm>
          <a:prstGeom prst="rect">
            <a:avLst/>
          </a:prstGeom>
          <a:solidFill>
            <a:srgbClr val="5AA9E6"/>
          </a:solidFill>
          <a:ln>
            <a:solidFill>
              <a:srgbClr val="5AA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92565" y="4713731"/>
            <a:ext cx="728662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21227" y="4681727"/>
            <a:ext cx="145732" cy="292608"/>
          </a:xfrm>
          <a:prstGeom prst="rect">
            <a:avLst/>
          </a:prstGeom>
          <a:solidFill>
            <a:srgbClr val="A6B1BC"/>
          </a:solidFill>
          <a:ln>
            <a:solidFill>
              <a:srgbClr val="A6B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68128" y="4672583"/>
            <a:ext cx="5029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1000" b="1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48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" y="5650992"/>
            <a:ext cx="164592" cy="164592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7280" y="5605272"/>
            <a:ext cx="23317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850" b="1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API / config / integration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84448" y="5650992"/>
            <a:ext cx="164592" cy="164592"/>
          </a:xfrm>
          <a:prstGeom prst="rect">
            <a:avLst/>
          </a:prstGeom>
          <a:solidFill>
            <a:srgbClr val="2D72D2"/>
          </a:solidFill>
          <a:ln>
            <a:solidFill>
              <a:srgbClr val="2D7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40480" y="5605272"/>
            <a:ext cx="23317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850" b="1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Attribution wording / self-report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27648" y="5650992"/>
            <a:ext cx="164592" cy="164592"/>
          </a:xfrm>
          <a:prstGeom prst="rect">
            <a:avLst/>
          </a:prstGeom>
          <a:solidFill>
            <a:srgbClr val="5AA9E6"/>
          </a:solidFill>
          <a:ln>
            <a:solidFill>
              <a:srgbClr val="5AA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0" y="5605272"/>
            <a:ext cx="23317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850" b="1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Docs / tests / release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70848" y="5650992"/>
            <a:ext cx="164592" cy="164592"/>
          </a:xfrm>
          <a:prstGeom prst="rect">
            <a:avLst/>
          </a:prstGeom>
          <a:solidFill>
            <a:srgbClr val="A6B1BC"/>
          </a:solidFill>
          <a:ln>
            <a:solidFill>
              <a:srgbClr val="A6B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0" y="5605272"/>
            <a:ext cx="23317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850" b="1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Other / unclear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4672" y="6007608"/>
            <a:ext cx="10378440" cy="320040"/>
          </a:xfrm>
          <a:prstGeom prst="roundRect">
            <a:avLst/>
          </a:prstGeom>
          <a:solidFill>
            <a:srgbClr val="E0F2EF"/>
          </a:solidFill>
          <a:ln>
            <a:solidFill>
              <a:srgbClr val="E0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0120" y="6080760"/>
            <a:ext cx="100584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101E31"/>
                </a:solidFill>
                <a:latin typeface="微软雅黑" panose="020B0503020204020204" charset="-122"/>
              </a:defRPr>
            </a:pPr>
            <a:r>
              <a:t>Direct observation: API, configuration, dependency, and integration content is the largest category.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6492240"/>
            <a:ext cx="996696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defRPr sz="800" b="0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Source: DOMESTIC_MODEL_DISCOVERY_ANNOTATED_SAMPLE.csv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defRPr sz="800" b="0">
                <a:solidFill>
                  <a:srgbClr val="5C6B7A"/>
                </a:solidFill>
                <a:latin typeface="微软雅黑" panose="020B0503020204020204" charset="-122"/>
              </a:defRPr>
            </a:pPr>
            <a: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WPS 演示</Application>
  <PresentationFormat>On-screen Show (4:3)</PresentationFormat>
  <Slides>5</Slides>
  <Notes>0</Notes>
  <HiddenSlides>0</HiddenSlides>
  <MMClips>0</MMClips>
  <ScaleCrop>false</ScaleCrop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and model observability: observable results</dc:title>
  <dc:creator>Master thesis project</dc:creator>
  <dc:description/>
  <dc:subject>Five-slide group meeting report</dc:subject>
  <cp:lastModifiedBy/>
  <cp:revision>2</cp:revision>
  <dcterms:created xsi:type="dcterms:W3CDTF">2013-01-27T09:14:00Z</dcterms:created>
  <dcterms:modified xsi:type="dcterms:W3CDTF">2026-09-08T10:33:32Z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1A43E6E37FC84398AC35AC4993E1183F_12</vt:lpwstr>
  </property>
</Properties>
</file>